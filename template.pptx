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9"/>
  </p:notesMasterIdLst>
  <p:sldIdLst>
    <p:sldId id="513" r:id="rId2"/>
    <p:sldId id="517" r:id="rId3"/>
    <p:sldId id="510" r:id="rId4"/>
    <p:sldId id="522" r:id="rId5"/>
    <p:sldId id="523" r:id="rId6"/>
    <p:sldId id="519" r:id="rId7"/>
    <p:sldId id="520" r:id="rId8"/>
  </p:sldIdLst>
  <p:sldSz cx="9144000" cy="6858000" type="screen4x3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DEADA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BABD69-777C-42B6-90B4-B05CFDFDD346}" v="84" dt="2026-05-27T02:49:26.94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8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환기" userId="0f7436bf-39f1-4776-a1ed-472eceeae1dd" providerId="ADAL" clId="{A3FE120C-1927-48DB-AA53-DA162E29D9CB}"/>
    <pc:docChg chg="undo custSel addSld delSld modSld">
      <pc:chgData name="김환기" userId="0f7436bf-39f1-4776-a1ed-472eceeae1dd" providerId="ADAL" clId="{A3FE120C-1927-48DB-AA53-DA162E29D9CB}" dt="2026-05-27T02:49:45.137" v="840" actId="20577"/>
      <pc:docMkLst>
        <pc:docMk/>
      </pc:docMkLst>
      <pc:sldChg chg="modSp mod">
        <pc:chgData name="김환기" userId="0f7436bf-39f1-4776-a1ed-472eceeae1dd" providerId="ADAL" clId="{A3FE120C-1927-48DB-AA53-DA162E29D9CB}" dt="2026-05-27T02:36:41.672" v="350" actId="20577"/>
        <pc:sldMkLst>
          <pc:docMk/>
          <pc:sldMk cId="4051659277" sldId="510"/>
        </pc:sldMkLst>
        <pc:graphicFrameChg chg="mod modGraphic">
          <ac:chgData name="김환기" userId="0f7436bf-39f1-4776-a1ed-472eceeae1dd" providerId="ADAL" clId="{A3FE120C-1927-48DB-AA53-DA162E29D9CB}" dt="2026-05-27T02:36:41.672" v="350" actId="20577"/>
          <ac:graphicFrameMkLst>
            <pc:docMk/>
            <pc:sldMk cId="4051659277" sldId="510"/>
            <ac:graphicFrameMk id="2" creationId="{C4000BD2-61CE-7ED6-DC45-D24520E73625}"/>
          </ac:graphicFrameMkLst>
        </pc:graphicFrameChg>
      </pc:sldChg>
      <pc:sldChg chg="modSp mod">
        <pc:chgData name="김환기" userId="0f7436bf-39f1-4776-a1ed-472eceeae1dd" providerId="ADAL" clId="{A3FE120C-1927-48DB-AA53-DA162E29D9CB}" dt="2026-05-27T02:19:54.076" v="1" actId="20577"/>
        <pc:sldMkLst>
          <pc:docMk/>
          <pc:sldMk cId="2508406191" sldId="517"/>
        </pc:sldMkLst>
        <pc:spChg chg="mod">
          <ac:chgData name="김환기" userId="0f7436bf-39f1-4776-a1ed-472eceeae1dd" providerId="ADAL" clId="{A3FE120C-1927-48DB-AA53-DA162E29D9CB}" dt="2026-05-27T02:19:54.076" v="1" actId="20577"/>
          <ac:spMkLst>
            <pc:docMk/>
            <pc:sldMk cId="2508406191" sldId="517"/>
            <ac:spMk id="2" creationId="{DB70A6CA-44FF-5BC3-4D3D-AD4495FE6CFF}"/>
          </ac:spMkLst>
        </pc:spChg>
      </pc:sldChg>
      <pc:sldChg chg="del">
        <pc:chgData name="김환기" userId="0f7436bf-39f1-4776-a1ed-472eceeae1dd" providerId="ADAL" clId="{A3FE120C-1927-48DB-AA53-DA162E29D9CB}" dt="2026-05-27T02:20:08.915" v="3" actId="47"/>
        <pc:sldMkLst>
          <pc:docMk/>
          <pc:sldMk cId="4142774027" sldId="518"/>
        </pc:sldMkLst>
      </pc:sldChg>
      <pc:sldChg chg="del">
        <pc:chgData name="김환기" userId="0f7436bf-39f1-4776-a1ed-472eceeae1dd" providerId="ADAL" clId="{A3FE120C-1927-48DB-AA53-DA162E29D9CB}" dt="2026-05-27T02:20:07.727" v="2" actId="47"/>
        <pc:sldMkLst>
          <pc:docMk/>
          <pc:sldMk cId="940727567" sldId="521"/>
        </pc:sldMkLst>
      </pc:sldChg>
      <pc:sldChg chg="modSp mod">
        <pc:chgData name="김환기" userId="0f7436bf-39f1-4776-a1ed-472eceeae1dd" providerId="ADAL" clId="{A3FE120C-1927-48DB-AA53-DA162E29D9CB}" dt="2026-05-27T02:35:57.720" v="335"/>
        <pc:sldMkLst>
          <pc:docMk/>
          <pc:sldMk cId="1031733963" sldId="522"/>
        </pc:sldMkLst>
        <pc:graphicFrameChg chg="mod modGraphic">
          <ac:chgData name="김환기" userId="0f7436bf-39f1-4776-a1ed-472eceeae1dd" providerId="ADAL" clId="{A3FE120C-1927-48DB-AA53-DA162E29D9CB}" dt="2026-05-27T02:35:57.720" v="335"/>
          <ac:graphicFrameMkLst>
            <pc:docMk/>
            <pc:sldMk cId="1031733963" sldId="522"/>
            <ac:graphicFrameMk id="4" creationId="{560BCBFC-CA97-3C46-F6B5-59431E29664D}"/>
          </ac:graphicFrameMkLst>
        </pc:graphicFrameChg>
      </pc:sldChg>
      <pc:sldChg chg="modSp add mod setBg">
        <pc:chgData name="김환기" userId="0f7436bf-39f1-4776-a1ed-472eceeae1dd" providerId="ADAL" clId="{A3FE120C-1927-48DB-AA53-DA162E29D9CB}" dt="2026-05-27T02:49:45.137" v="840" actId="20577"/>
        <pc:sldMkLst>
          <pc:docMk/>
          <pc:sldMk cId="232763422" sldId="523"/>
        </pc:sldMkLst>
        <pc:spChg chg="mod">
          <ac:chgData name="김환기" userId="0f7436bf-39f1-4776-a1ed-472eceeae1dd" providerId="ADAL" clId="{A3FE120C-1927-48DB-AA53-DA162E29D9CB}" dt="2026-05-27T02:37:03.873" v="353" actId="20577"/>
          <ac:spMkLst>
            <pc:docMk/>
            <pc:sldMk cId="232763422" sldId="523"/>
            <ac:spMk id="20" creationId="{8A71A383-4D15-8763-62DB-0F0A360A7E67}"/>
          </ac:spMkLst>
        </pc:spChg>
        <pc:graphicFrameChg chg="mod modGraphic">
          <ac:chgData name="김환기" userId="0f7436bf-39f1-4776-a1ed-472eceeae1dd" providerId="ADAL" clId="{A3FE120C-1927-48DB-AA53-DA162E29D9CB}" dt="2026-05-27T02:49:45.137" v="840" actId="20577"/>
          <ac:graphicFrameMkLst>
            <pc:docMk/>
            <pc:sldMk cId="232763422" sldId="523"/>
            <ac:graphicFrameMk id="4" creationId="{99C9E952-01F8-CEF5-EDA1-DE2B2ECAF053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6ECF4-55E7-43DE-B657-FFF76133CD78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3013"/>
            <a:ext cx="447357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BCBA9-412C-40A1-8D06-E13F9150FA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35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525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7"/>
          <p:cNvPicPr>
            <a:picLocks noChangeAspect="1"/>
          </p:cNvPicPr>
          <p:nvPr userDrawn="1"/>
        </p:nvPicPr>
        <p:blipFill>
          <a:blip r:embed="rId3" cstate="print">
            <a:grayscl/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6909" y="347666"/>
            <a:ext cx="1526931" cy="128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27" name="직선 연결선 17"/>
          <p:cNvCxnSpPr>
            <a:cxnSpLocks noChangeShapeType="1"/>
          </p:cNvCxnSpPr>
          <p:nvPr userDrawn="1"/>
        </p:nvCxnSpPr>
        <p:spPr bwMode="auto">
          <a:xfrm>
            <a:off x="52754" y="447675"/>
            <a:ext cx="7376746" cy="0"/>
          </a:xfrm>
          <a:prstGeom prst="line">
            <a:avLst/>
          </a:prstGeom>
          <a:noFill/>
          <a:ln w="28575" algn="ctr">
            <a:solidFill>
              <a:srgbClr val="80808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4627508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sldNum="0"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75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389586" algn="ctr" rtl="0" fontAlgn="base" latinLnBrk="1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779173" algn="ctr" rtl="0" fontAlgn="base" latinLnBrk="1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168759" algn="ctr" rtl="0" fontAlgn="base" latinLnBrk="1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558345" algn="ctr" rtl="0" fontAlgn="base" latinLnBrk="1">
        <a:spcBef>
          <a:spcPct val="0"/>
        </a:spcBef>
        <a:spcAft>
          <a:spcPct val="0"/>
        </a:spcAft>
        <a:defRPr sz="375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292190" indent="-29219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727" kern="1200">
          <a:solidFill>
            <a:schemeClr val="tx1"/>
          </a:solidFill>
          <a:latin typeface="+mn-lt"/>
          <a:ea typeface="+mn-ea"/>
          <a:cs typeface="+mn-cs"/>
        </a:defRPr>
      </a:lvl1pPr>
      <a:lvl2pPr marL="633078" indent="-243492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386" kern="1200">
          <a:solidFill>
            <a:schemeClr val="tx1"/>
          </a:solidFill>
          <a:latin typeface="+mn-lt"/>
          <a:ea typeface="+mn-ea"/>
          <a:cs typeface="+mn-cs"/>
        </a:defRPr>
      </a:lvl2pPr>
      <a:lvl3pPr marL="973966" indent="-19479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45" kern="1200">
          <a:solidFill>
            <a:schemeClr val="tx1"/>
          </a:solidFill>
          <a:latin typeface="+mn-lt"/>
          <a:ea typeface="+mn-ea"/>
          <a:cs typeface="+mn-cs"/>
        </a:defRPr>
      </a:lvl3pPr>
      <a:lvl4pPr marL="1363553" indent="-19479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704" kern="1200">
          <a:solidFill>
            <a:schemeClr val="tx1"/>
          </a:solidFill>
          <a:latin typeface="+mn-lt"/>
          <a:ea typeface="+mn-ea"/>
          <a:cs typeface="+mn-cs"/>
        </a:defRPr>
      </a:lvl4pPr>
      <a:lvl5pPr marL="1753139" indent="-194793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704" kern="1200">
          <a:solidFill>
            <a:schemeClr val="tx1"/>
          </a:solidFill>
          <a:latin typeface="+mn-lt"/>
          <a:ea typeface="+mn-ea"/>
          <a:cs typeface="+mn-cs"/>
        </a:defRPr>
      </a:lvl5pPr>
      <a:lvl6pPr marL="2142725" indent="-194793" algn="l" defTabSz="779173" rtl="0" eaLnBrk="1" latinLnBrk="1" hangingPunct="1">
        <a:spcBef>
          <a:spcPct val="20000"/>
        </a:spcBef>
        <a:buFont typeface="Arial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6pPr>
      <a:lvl7pPr marL="2532312" indent="-194793" algn="l" defTabSz="779173" rtl="0" eaLnBrk="1" latinLnBrk="1" hangingPunct="1">
        <a:spcBef>
          <a:spcPct val="20000"/>
        </a:spcBef>
        <a:buFont typeface="Arial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7pPr>
      <a:lvl8pPr marL="2921898" indent="-194793" algn="l" defTabSz="779173" rtl="0" eaLnBrk="1" latinLnBrk="1" hangingPunct="1">
        <a:spcBef>
          <a:spcPct val="20000"/>
        </a:spcBef>
        <a:buFont typeface="Arial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8pPr>
      <a:lvl9pPr marL="3311484" indent="-194793" algn="l" defTabSz="779173" rtl="0" eaLnBrk="1" latinLnBrk="1" hangingPunct="1">
        <a:spcBef>
          <a:spcPct val="20000"/>
        </a:spcBef>
        <a:buFont typeface="Arial" pitchFamily="34" charset="0"/>
        <a:buChar char="•"/>
        <a:defRPr sz="17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1pPr>
      <a:lvl2pPr marL="389586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2pPr>
      <a:lvl3pPr marL="779173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3pPr>
      <a:lvl4pPr marL="1168759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4pPr>
      <a:lvl5pPr marL="1558345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5pPr>
      <a:lvl6pPr marL="1947932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6pPr>
      <a:lvl7pPr marL="2337518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7pPr>
      <a:lvl8pPr marL="2727104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8pPr>
      <a:lvl9pPr marL="3116691" algn="l" defTabSz="779173" rtl="0" eaLnBrk="1" latinLnBrk="1" hangingPunct="1">
        <a:defRPr sz="153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9FA91B-7296-BAA1-891A-4161804A3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D049DAB1-5E08-1506-A92A-65E70E31681A}"/>
              </a:ext>
            </a:extLst>
          </p:cNvPr>
          <p:cNvSpPr/>
          <p:nvPr/>
        </p:nvSpPr>
        <p:spPr bwMode="auto">
          <a:xfrm>
            <a:off x="3944854" y="542924"/>
            <a:ext cx="5102320" cy="5541967"/>
          </a:xfrm>
          <a:custGeom>
            <a:avLst/>
            <a:gdLst>
              <a:gd name="connsiteX0" fmla="*/ 1238 w 5102320"/>
              <a:gd name="connsiteY0" fmla="*/ 0 h 5756817"/>
              <a:gd name="connsiteX1" fmla="*/ 364612 w 5102320"/>
              <a:gd name="connsiteY1" fmla="*/ 0 h 5756817"/>
              <a:gd name="connsiteX2" fmla="*/ 4737708 w 5102320"/>
              <a:gd name="connsiteY2" fmla="*/ 0 h 5756817"/>
              <a:gd name="connsiteX3" fmla="*/ 5102320 w 5102320"/>
              <a:gd name="connsiteY3" fmla="*/ 0 h 5756817"/>
              <a:gd name="connsiteX4" fmla="*/ 5102320 w 5102320"/>
              <a:gd name="connsiteY4" fmla="*/ 364612 h 5756817"/>
              <a:gd name="connsiteX5" fmla="*/ 5102320 w 5102320"/>
              <a:gd name="connsiteY5" fmla="*/ 914400 h 5756817"/>
              <a:gd name="connsiteX6" fmla="*/ 5102320 w 5102320"/>
              <a:gd name="connsiteY6" fmla="*/ 5392205 h 5756817"/>
              <a:gd name="connsiteX7" fmla="*/ 4737708 w 5102320"/>
              <a:gd name="connsiteY7" fmla="*/ 5756817 h 5756817"/>
              <a:gd name="connsiteX8" fmla="*/ 364612 w 5102320"/>
              <a:gd name="connsiteY8" fmla="*/ 5756817 h 5756817"/>
              <a:gd name="connsiteX9" fmla="*/ 0 w 5102320"/>
              <a:gd name="connsiteY9" fmla="*/ 5392205 h 5756817"/>
              <a:gd name="connsiteX10" fmla="*/ 0 w 5102320"/>
              <a:gd name="connsiteY10" fmla="*/ 364612 h 5756817"/>
              <a:gd name="connsiteX11" fmla="*/ 1238 w 5102320"/>
              <a:gd name="connsiteY11" fmla="*/ 352331 h 57568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102320" h="5756817">
                <a:moveTo>
                  <a:pt x="1238" y="0"/>
                </a:moveTo>
                <a:lnTo>
                  <a:pt x="364612" y="0"/>
                </a:lnTo>
                <a:lnTo>
                  <a:pt x="4737708" y="0"/>
                </a:lnTo>
                <a:lnTo>
                  <a:pt x="5102320" y="0"/>
                </a:lnTo>
                <a:lnTo>
                  <a:pt x="5102320" y="364612"/>
                </a:lnTo>
                <a:lnTo>
                  <a:pt x="5102320" y="914400"/>
                </a:lnTo>
                <a:lnTo>
                  <a:pt x="5102320" y="5392205"/>
                </a:lnTo>
                <a:cubicBezTo>
                  <a:pt x="5102320" y="5593575"/>
                  <a:pt x="4939078" y="5756817"/>
                  <a:pt x="4737708" y="5756817"/>
                </a:cubicBezTo>
                <a:lnTo>
                  <a:pt x="364612" y="5756817"/>
                </a:lnTo>
                <a:cubicBezTo>
                  <a:pt x="163242" y="5756817"/>
                  <a:pt x="0" y="5593575"/>
                  <a:pt x="0" y="5392205"/>
                </a:cubicBezTo>
                <a:lnTo>
                  <a:pt x="0" y="364612"/>
                </a:lnTo>
                <a:lnTo>
                  <a:pt x="1238" y="352331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1" i="0" u="none" strike="noStrike" cap="none" normalizeH="0" baseline="0">
              <a:ln>
                <a:noFill/>
              </a:ln>
              <a:solidFill>
                <a:srgbClr val="FF0000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A48B52B-4FD6-8253-C8C5-2E0566709665}"/>
              </a:ext>
            </a:extLst>
          </p:cNvPr>
          <p:cNvGrpSpPr/>
          <p:nvPr/>
        </p:nvGrpSpPr>
        <p:grpSpPr>
          <a:xfrm>
            <a:off x="1172262" y="829220"/>
            <a:ext cx="1563804" cy="393174"/>
            <a:chOff x="3930977" y="2861504"/>
            <a:chExt cx="1563804" cy="393174"/>
          </a:xfrm>
        </p:grpSpPr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ED68B86B-87EE-DF17-562D-83235957B8F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l="16651" t="9929" r="5019" b="16549"/>
            <a:stretch/>
          </p:blipFill>
          <p:spPr>
            <a:xfrm>
              <a:off x="3930977" y="2882870"/>
              <a:ext cx="1114700" cy="371808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419AFF56-9709-423A-A5C4-121449C20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199" b="98801" l="1979" r="98478">
                          <a14:foregroundMark x1="45967" y1="49025" x2="45967" y2="49025"/>
                          <a14:foregroundMark x1="42009" y1="53823" x2="42009" y2="53823"/>
                          <a14:foregroundMark x1="40183" y1="58171" x2="46119" y2="42879"/>
                          <a14:foregroundMark x1="45205" y1="41829" x2="52664" y2="56972"/>
                          <a14:foregroundMark x1="43227" y1="53223" x2="50989" y2="52474"/>
                          <a14:foregroundMark x1="58295" y1="58171" x2="58904" y2="42879"/>
                          <a14:foregroundMark x1="58904" y1="42579" x2="65297" y2="56222"/>
                          <a14:foregroundMark x1="65601" y1="58471" x2="73668" y2="42129"/>
                          <a14:foregroundMark x1="73973" y1="43178" x2="73516" y2="58171"/>
                          <a14:foregroundMark x1="88280" y1="43028" x2="80974" y2="42729"/>
                          <a14:foregroundMark x1="82040" y1="42279" x2="79909" y2="47976"/>
                          <a14:foregroundMark x1="80670" y1="47976" x2="88128" y2="53073"/>
                          <a14:foregroundMark x1="88280" y1="53973" x2="88128" y2="55922"/>
                          <a14:foregroundMark x1="88584" y1="54723" x2="85693" y2="57721"/>
                          <a14:foregroundMark x1="87519" y1="57421" x2="78387" y2="57571"/>
                          <a14:foregroundMark x1="88432" y1="31034" x2="65753" y2="704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19569" y="2861504"/>
              <a:ext cx="375212" cy="37180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04" name="TextBox 1103">
            <a:extLst>
              <a:ext uri="{FF2B5EF4-FFF2-40B4-BE49-F238E27FC236}">
                <a16:creationId xmlns:a16="http://schemas.microsoft.com/office/drawing/2014/main" id="{19CF3274-9EFC-DA12-2E02-71335F575AB8}"/>
              </a:ext>
            </a:extLst>
          </p:cNvPr>
          <p:cNvSpPr txBox="1"/>
          <p:nvPr/>
        </p:nvSpPr>
        <p:spPr>
          <a:xfrm>
            <a:off x="4200060" y="1443829"/>
            <a:ext cx="4882434" cy="9848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>
              <a:defRPr sz="2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sz="32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4A4A4A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PU</a:t>
            </a:r>
            <a:r>
              <a:rPr lang="ko-KR" altLang="en-US" sz="32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4A4A4A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32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4A4A4A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32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4A4A4A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관련</a:t>
            </a:r>
            <a:endParaRPr lang="en-US" altLang="ko-KR" sz="3200" b="1" dirty="0">
              <a:ln w="3175">
                <a:solidFill>
                  <a:schemeClr val="tx1">
                    <a:alpha val="0"/>
                  </a:schemeClr>
                </a:solidFill>
              </a:ln>
              <a:solidFill>
                <a:srgbClr val="4A4A4A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ko-KR" altLang="en-US" sz="32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4A4A4A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인원 운영안 보고서</a:t>
            </a:r>
          </a:p>
        </p:txBody>
      </p:sp>
      <p:sp>
        <p:nvSpPr>
          <p:cNvPr id="1105" name="TextBox 1104">
            <a:extLst>
              <a:ext uri="{FF2B5EF4-FFF2-40B4-BE49-F238E27FC236}">
                <a16:creationId xmlns:a16="http://schemas.microsoft.com/office/drawing/2014/main" id="{17FB41DB-4481-13DC-4079-413FFF4681A0}"/>
              </a:ext>
            </a:extLst>
          </p:cNvPr>
          <p:cNvSpPr txBox="1"/>
          <p:nvPr/>
        </p:nvSpPr>
        <p:spPr>
          <a:xfrm>
            <a:off x="5417181" y="3748655"/>
            <a:ext cx="3328371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>
              <a:defRPr sz="2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sz="13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관련 인원 운영</a:t>
            </a:r>
          </a:p>
        </p:txBody>
      </p:sp>
      <p:sp>
        <p:nvSpPr>
          <p:cNvPr id="1106" name="TextBox 1105">
            <a:extLst>
              <a:ext uri="{FF2B5EF4-FFF2-40B4-BE49-F238E27FC236}">
                <a16:creationId xmlns:a16="http://schemas.microsoft.com/office/drawing/2014/main" id="{C25CC251-6443-D203-3D74-A42F589DDBDE}"/>
              </a:ext>
            </a:extLst>
          </p:cNvPr>
          <p:cNvSpPr txBox="1"/>
          <p:nvPr/>
        </p:nvSpPr>
        <p:spPr>
          <a:xfrm>
            <a:off x="5417181" y="4224315"/>
            <a:ext cx="3328371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>
              <a:defRPr sz="2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PU LINE C/PAD</a:t>
            </a:r>
            <a:endParaRPr lang="ko-KR" altLang="en-US" sz="1300" b="1" dirty="0">
              <a:ln w="3175"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07" name="TextBox 1106">
            <a:extLst>
              <a:ext uri="{FF2B5EF4-FFF2-40B4-BE49-F238E27FC236}">
                <a16:creationId xmlns:a16="http://schemas.microsoft.com/office/drawing/2014/main" id="{4F919F58-1308-99CC-F87F-5DDC0C09CD34}"/>
              </a:ext>
            </a:extLst>
          </p:cNvPr>
          <p:cNvSpPr txBox="1"/>
          <p:nvPr/>
        </p:nvSpPr>
        <p:spPr>
          <a:xfrm>
            <a:off x="5417181" y="4699975"/>
            <a:ext cx="3551327" cy="20005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>
              <a:defRPr sz="2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ko-KR" altLang="en-US" sz="13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관련 공정 공수 변경 및 인원 대체 운영 계획</a:t>
            </a:r>
          </a:p>
        </p:txBody>
      </p:sp>
      <p:sp>
        <p:nvSpPr>
          <p:cNvPr id="1108" name="TextBox 1107">
            <a:extLst>
              <a:ext uri="{FF2B5EF4-FFF2-40B4-BE49-F238E27FC236}">
                <a16:creationId xmlns:a16="http://schemas.microsoft.com/office/drawing/2014/main" id="{50A4D37B-5544-9B1B-9C26-8A9C8B166303}"/>
              </a:ext>
            </a:extLst>
          </p:cNvPr>
          <p:cNvSpPr txBox="1"/>
          <p:nvPr/>
        </p:nvSpPr>
        <p:spPr>
          <a:xfrm>
            <a:off x="5417180" y="5087583"/>
            <a:ext cx="3551327" cy="40011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>
            <a:defPPr>
              <a:defRPr lang="ko-KR"/>
            </a:defPPr>
            <a:lvl1pPr>
              <a:defRPr sz="220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</a:lstStyle>
          <a:p>
            <a:r>
              <a:rPr lang="en-US" altLang="ko-KR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1) PU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라인 </a:t>
            </a:r>
            <a:r>
              <a:rPr lang="ko-KR" altLang="en-US" sz="13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운영안 </a:t>
            </a:r>
            <a:r>
              <a:rPr lang="en-US" altLang="ko-KR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2) 2:1~4:1 </a:t>
            </a:r>
            <a:r>
              <a:rPr lang="ko-KR" altLang="en-US" sz="13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운영안</a:t>
            </a:r>
            <a:endParaRPr lang="en-US" altLang="ko-KR" sz="1300" b="1" dirty="0">
              <a:ln w="3175"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r>
              <a:rPr lang="en-US" altLang="ko-KR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3) 5:1 </a:t>
            </a:r>
            <a:r>
              <a:rPr lang="ko-KR" altLang="en-US" sz="1300" b="1" dirty="0" err="1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공피치</a:t>
            </a:r>
            <a:r>
              <a:rPr lang="ko-KR" altLang="en-US" sz="1300" b="1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</a:rPr>
              <a:t> 운영안</a:t>
            </a:r>
            <a:endParaRPr lang="en-US" altLang="ko-KR" sz="1300" b="1" dirty="0">
              <a:ln w="3175"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09" name="사각형: 둥근 모서리 1108">
            <a:extLst>
              <a:ext uri="{FF2B5EF4-FFF2-40B4-BE49-F238E27FC236}">
                <a16:creationId xmlns:a16="http://schemas.microsoft.com/office/drawing/2014/main" id="{B10388BB-8CAF-0EED-CABE-B9801918FBD4}"/>
              </a:ext>
            </a:extLst>
          </p:cNvPr>
          <p:cNvSpPr/>
          <p:nvPr/>
        </p:nvSpPr>
        <p:spPr bwMode="auto">
          <a:xfrm>
            <a:off x="4390579" y="3692608"/>
            <a:ext cx="927941" cy="3077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목적</a:t>
            </a:r>
            <a:endParaRPr kumimoji="1" lang="ko-KR" altLang="en-US" sz="13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10" name="사각형: 둥근 모서리 1109">
            <a:extLst>
              <a:ext uri="{FF2B5EF4-FFF2-40B4-BE49-F238E27FC236}">
                <a16:creationId xmlns:a16="http://schemas.microsoft.com/office/drawing/2014/main" id="{AE35249D-7AB4-F087-0FE9-8ADBF80FE398}"/>
              </a:ext>
            </a:extLst>
          </p:cNvPr>
          <p:cNvSpPr/>
          <p:nvPr/>
        </p:nvSpPr>
        <p:spPr bwMode="auto">
          <a:xfrm>
            <a:off x="4390579" y="4168268"/>
            <a:ext cx="927941" cy="3077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3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범위</a:t>
            </a:r>
          </a:p>
        </p:txBody>
      </p:sp>
      <p:sp>
        <p:nvSpPr>
          <p:cNvPr id="1111" name="사각형: 둥근 모서리 1110">
            <a:extLst>
              <a:ext uri="{FF2B5EF4-FFF2-40B4-BE49-F238E27FC236}">
                <a16:creationId xmlns:a16="http://schemas.microsoft.com/office/drawing/2014/main" id="{592889BC-C35E-5346-8B56-B361D8FCEBCB}"/>
              </a:ext>
            </a:extLst>
          </p:cNvPr>
          <p:cNvSpPr/>
          <p:nvPr/>
        </p:nvSpPr>
        <p:spPr bwMode="auto">
          <a:xfrm>
            <a:off x="4390579" y="4643928"/>
            <a:ext cx="927941" cy="3077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핵심 내용</a:t>
            </a:r>
            <a:endParaRPr kumimoji="1" lang="ko-KR" altLang="en-US" sz="13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12" name="사각형: 둥근 모서리 1111">
            <a:extLst>
              <a:ext uri="{FF2B5EF4-FFF2-40B4-BE49-F238E27FC236}">
                <a16:creationId xmlns:a16="http://schemas.microsoft.com/office/drawing/2014/main" id="{F5E93354-0827-3F18-A1B8-D1AEF9A7E51A}"/>
              </a:ext>
            </a:extLst>
          </p:cNvPr>
          <p:cNvSpPr/>
          <p:nvPr/>
        </p:nvSpPr>
        <p:spPr bwMode="auto">
          <a:xfrm>
            <a:off x="4390579" y="5094619"/>
            <a:ext cx="927941" cy="307777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R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1" lang="ko-KR" altLang="en-US" sz="13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목차</a:t>
            </a:r>
            <a:endParaRPr kumimoji="1" lang="ko-KR" altLang="en-US" sz="13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FF8AA396-5FE3-666D-56EC-D1DDDD4E2C0F}"/>
              </a:ext>
            </a:extLst>
          </p:cNvPr>
          <p:cNvGrpSpPr/>
          <p:nvPr/>
        </p:nvGrpSpPr>
        <p:grpSpPr>
          <a:xfrm>
            <a:off x="248669" y="2141286"/>
            <a:ext cx="3696185" cy="3253415"/>
            <a:chOff x="61506" y="1695173"/>
            <a:chExt cx="3696185" cy="3253415"/>
          </a:xfrm>
        </p:grpSpPr>
        <p:sp>
          <p:nvSpPr>
            <p:cNvPr id="1114" name="TextBox 1113">
              <a:extLst>
                <a:ext uri="{FF2B5EF4-FFF2-40B4-BE49-F238E27FC236}">
                  <a16:creationId xmlns:a16="http://schemas.microsoft.com/office/drawing/2014/main" id="{A95161D5-81F2-6D88-BD64-FF13D587CCF7}"/>
                </a:ext>
              </a:extLst>
            </p:cNvPr>
            <p:cNvSpPr txBox="1"/>
            <p:nvPr/>
          </p:nvSpPr>
          <p:spPr>
            <a:xfrm>
              <a:off x="1225026" y="4656200"/>
              <a:ext cx="1083951" cy="29238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ko-KR"/>
              </a:defPPr>
              <a:lvl1pPr algn="ctr">
                <a:defRPr sz="1600">
                  <a:gradFill>
                    <a:gsLst>
                      <a:gs pos="1000">
                        <a:schemeClr val="tx1">
                          <a:lumMod val="75000"/>
                          <a:lumOff val="25000"/>
                        </a:schemeClr>
                      </a:gs>
                      <a:gs pos="99000">
                        <a:schemeClr val="tx1">
                          <a:lumMod val="75000"/>
                          <a:lumOff val="25000"/>
                        </a:schemeClr>
                      </a:gs>
                    </a:gsLst>
                    <a:lin ang="5400000" scaled="1"/>
                  </a:gradFill>
                  <a:latin typeface="현대하모니 L" panose="02020603020101020101" pitchFamily="18" charset="-127"/>
                  <a:ea typeface="현대하모니 L" panose="02020603020101020101" pitchFamily="18" charset="-127"/>
                  <a:cs typeface="Arial" pitchFamily="34" charset="0"/>
                </a:defRPr>
              </a:lvl1pPr>
            </a:lstStyle>
            <a:p>
              <a:r>
                <a:rPr lang="en-US" altLang="ko-KR" sz="1300" dirty="0">
                  <a:ln w="317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cs typeface="+mn-cs"/>
                </a:rPr>
                <a:t>[</a:t>
              </a:r>
              <a:r>
                <a:rPr lang="ko-KR" altLang="en-US" sz="1300" dirty="0">
                  <a:ln w="317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cs typeface="+mn-cs"/>
                </a:rPr>
                <a:t>봉고 </a:t>
              </a:r>
              <a:r>
                <a:rPr lang="en-US" altLang="ko-KR" sz="1300" dirty="0">
                  <a:ln w="3175">
                    <a:solidFill>
                      <a:schemeClr val="tx1">
                        <a:alpha val="0"/>
                      </a:schemeClr>
                    </a:solidFill>
                  </a:ln>
                  <a:solidFill>
                    <a:schemeClr val="tx1">
                      <a:lumMod val="95000"/>
                      <a:lumOff val="5000"/>
                    </a:schemeClr>
                  </a:solidFill>
                  <a:cs typeface="+mn-cs"/>
                </a:rPr>
                <a:t>3(PU)]</a:t>
              </a:r>
              <a:endParaRPr lang="ko-KR" altLang="en-US" sz="1300" dirty="0">
                <a:ln w="3175"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cs typeface="+mn-cs"/>
              </a:endParaRPr>
            </a:p>
          </p:txBody>
        </p:sp>
        <p:pic>
          <p:nvPicPr>
            <p:cNvPr id="6" name="그림 5" descr="차량, 바퀴, 육상 차량, 교통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880F5A9-F5D9-3EE4-D84F-534B3BAF5A2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flipH="1">
              <a:off x="61506" y="1695173"/>
              <a:ext cx="3696185" cy="272919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523658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2716AD-7885-DE9B-84D6-4B2061452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157E9C48-08F3-3075-C673-4196C3D0F01D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A923E867-7550-2857-B0B6-D75E6F6E8EF0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27C010F-6F2B-9712-8FBB-142EFE073297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EF76BA40-2874-C08E-5701-C18D489AE1D3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27F74E0-B758-BD31-BF0D-BB2FB2D55571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01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A745D9-D565-4AB5-1705-66DEA4DE7E31}"/>
              </a:ext>
            </a:extLst>
          </p:cNvPr>
          <p:cNvSpPr txBox="1"/>
          <p:nvPr/>
        </p:nvSpPr>
        <p:spPr>
          <a:xfrm>
            <a:off x="734438" y="953870"/>
            <a:ext cx="4895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PU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라인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공피치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관련 인원 운영안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B821F162-0741-04F3-1B2F-0540D40E98BC}"/>
              </a:ext>
            </a:extLst>
          </p:cNvPr>
          <p:cNvCxnSpPr/>
          <p:nvPr/>
        </p:nvCxnSpPr>
        <p:spPr bwMode="auto">
          <a:xfrm>
            <a:off x="525903" y="1614672"/>
            <a:ext cx="8297688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759117B4-D079-1E89-FBAE-486F93A3C6F1}"/>
              </a:ext>
            </a:extLst>
          </p:cNvPr>
          <p:cNvGrpSpPr/>
          <p:nvPr/>
        </p:nvGrpSpPr>
        <p:grpSpPr>
          <a:xfrm>
            <a:off x="420464" y="1750902"/>
            <a:ext cx="8677347" cy="4871847"/>
            <a:chOff x="420464" y="1797081"/>
            <a:chExt cx="8677347" cy="487184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DB70A6CA-44FF-5BC3-4D3D-AD4495FE6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64" y="1797081"/>
              <a:ext cx="8677347" cy="487184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68580" tIns="0" rIns="68580" bIns="3429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defTabSz="685800"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1. 추진 배경 및 목적</a:t>
              </a:r>
            </a:p>
            <a:p>
              <a:pPr defTabSz="685800"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고객사의 생산량 감축 운영(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2:1 ~ 5:1)에 따라 발생하는 유휴 자원을 효율적으로 재배치하여,</a:t>
              </a: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defTabSz="685800"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제조 원가 부담을 최소화하고 라인 운영의 유연성을 확보하고자 함.</a:t>
              </a:r>
            </a:p>
            <a:p>
              <a:pPr defTabSz="685800"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현황: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고객사 정상 운영 대비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운영으로 인한 실질 생산량 감소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(MAX 50~20%)</a:t>
              </a:r>
              <a:endParaRPr lang="ko-KR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defTabSz="685800"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  <a:buFontTx/>
                <a:buChar char="•"/>
              </a:pP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목적: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전환 배치를 통한 인력 효율화 및 고정비 부담 완화로 경영 손익 개선</a:t>
              </a: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2. 주요 문제점 (</a:t>
              </a:r>
              <a:r>
                <a:rPr lang="ko-KR" altLang="ko-KR" sz="1100" b="1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Pain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b="1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Points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-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운영 시 인력 조정을 하지 않을 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제조 원가 상승으로 인한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경영 리스크 발생.</a:t>
              </a: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1)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매출 하락 및 고정비 부담 가중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생산량 감소로 인한 매출 저하 대비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고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정비 상승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2)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인건비 효율성 저하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생산량은 감소하였으나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,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투입 인원이 동일할 경우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제품당 노무비(</a:t>
              </a:r>
              <a:r>
                <a:rPr lang="ko-KR" altLang="ko-KR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Unit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Cost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 급증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3)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추가 비용 발생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특정 공정의 부재 인원 발생시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유휴 인력을 활용하지 못하고 별도 연장 근로를 실시함으로써 불필요한 추가 인건비 지출</a:t>
              </a: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3. 인력 운영 최적화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운영 검토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(전환 배치)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-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비율(2:1~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4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:1)에 따른 공정 재설계 및 인력 효율화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운영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.</a:t>
              </a:r>
              <a:endPara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▶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1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안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 </a:t>
              </a:r>
              <a:r>
                <a:rPr lang="ko-KR" altLang="ko-KR" sz="1100" b="1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Takt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Time 재산출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을 통한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공정 통합 및 인원 축소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-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공피치로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인해 길어진 작업 주기에 맞춰 1인당 담당 공정 범위를 확대(</a:t>
              </a:r>
              <a:r>
                <a:rPr lang="ko-KR" altLang="ko-KR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Multi-Station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 -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최적 인원 산출: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감축된 생산 물량에 최적화된 필수 인원만을 라인에 배치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▶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2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안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전략적 전환 배치 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-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유휴 인력 활용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라인 축소 배치로 발생한 여유 인력을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부재인원 발생공정에 전환배치 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투입</a:t>
              </a: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   -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연장 근로 억제</a:t>
              </a: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</a:t>
              </a:r>
              <a:r>
                <a:rPr lang="ko-KR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</a:t>
              </a:r>
              <a:r>
                <a:rPr lang="ko-KR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부재 인원 발생 시 전환 배치 인력을 우선 활용하여 인건비 상승 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개선</a:t>
              </a: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4. 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기대효과</a:t>
              </a:r>
              <a:endPara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eaLnBrk="0" fontAlgn="base" latinLnBrk="0" hangingPunct="0">
                <a:lnSpc>
                  <a:spcPts val="1350"/>
                </a:lnSpc>
                <a:spcBef>
                  <a:spcPct val="0"/>
                </a:spcBef>
                <a:spcAft>
                  <a:spcPct val="0"/>
                </a:spcAft>
              </a:pPr>
              <a:endPara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  <a:p>
              <a:pPr lvl="0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altLang="ko-KR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5. </a:t>
              </a:r>
              <a:r>
                <a:rPr lang="ko-KR" altLang="en-US" sz="1100" b="1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운영 계획 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: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공피치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운영안별 </a:t>
              </a:r>
              <a:r>
                <a:rPr lang="ko-KR" altLang="en-US" sz="1100" dirty="0" err="1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하네스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 공정 인원 전환배치  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(</a:t>
              </a:r>
              <a:r>
                <a:rPr lang="ko-KR" altLang="en-US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세부 운영안 참조</a:t>
              </a:r>
              <a:r>
                <a:rPr lang="en-US" altLang="ko-KR" sz="1100" dirty="0">
                  <a:latin typeface="현대하모니 L" panose="02020603020101020101" pitchFamily="18" charset="-127"/>
                  <a:ea typeface="현대하모니 L" panose="02020603020101020101" pitchFamily="18" charset="-127"/>
                </a:rPr>
                <a:t>)</a:t>
              </a:r>
              <a:endParaRPr lang="ko-KR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endParaRPr>
            </a:p>
          </p:txBody>
        </p:sp>
        <p:graphicFrame>
          <p:nvGraphicFramePr>
            <p:cNvPr id="4" name="내용 개체 틀 3">
              <a:extLst>
                <a:ext uri="{FF2B5EF4-FFF2-40B4-BE49-F238E27FC236}">
                  <a16:creationId xmlns:a16="http://schemas.microsoft.com/office/drawing/2014/main" id="{02489B7F-E72F-B9DD-8197-4004A0D5528A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098695854"/>
                </p:ext>
              </p:extLst>
            </p:nvPr>
          </p:nvGraphicFramePr>
          <p:xfrm>
            <a:off x="636539" y="5436851"/>
            <a:ext cx="8317274" cy="883920"/>
          </p:xfrm>
          <a:graphic>
            <a:graphicData uri="http://schemas.openxmlformats.org/drawingml/2006/table">
              <a:tbl>
                <a:tblPr/>
                <a:tblGrid>
                  <a:gridCol w="760920">
                    <a:extLst>
                      <a:ext uri="{9D8B030D-6E8A-4147-A177-3AD203B41FA5}">
                        <a16:colId xmlns:a16="http://schemas.microsoft.com/office/drawing/2014/main" val="103310781"/>
                      </a:ext>
                    </a:extLst>
                  </a:gridCol>
                  <a:gridCol w="2832286">
                    <a:extLst>
                      <a:ext uri="{9D8B030D-6E8A-4147-A177-3AD203B41FA5}">
                        <a16:colId xmlns:a16="http://schemas.microsoft.com/office/drawing/2014/main" val="3750101827"/>
                      </a:ext>
                    </a:extLst>
                  </a:gridCol>
                  <a:gridCol w="4724068">
                    <a:extLst>
                      <a:ext uri="{9D8B030D-6E8A-4147-A177-3AD203B41FA5}">
                        <a16:colId xmlns:a16="http://schemas.microsoft.com/office/drawing/2014/main" val="3207101818"/>
                      </a:ext>
                    </a:extLst>
                  </a:gridCol>
                </a:tblGrid>
                <a:tr h="2057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구분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개선 전 </a:t>
                        </a:r>
                        <a:r>
                          <a:rPr lang="en-US" altLang="ko-KR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(</a:t>
                        </a: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리스크</a:t>
                        </a:r>
                        <a:r>
                          <a:rPr lang="en-US" altLang="ko-KR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)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개선 후 </a:t>
                        </a:r>
                        <a:r>
                          <a:rPr lang="en-US" altLang="ko-KR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(</a:t>
                        </a: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기대 효과</a:t>
                        </a:r>
                        <a:r>
                          <a:rPr lang="en-US" altLang="ko-KR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)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chemeClr val="bg1">
                          <a:lumMod val="85000"/>
                        </a:scheme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264964711"/>
                    </a:ext>
                  </a:extLst>
                </a:tr>
                <a:tr h="2057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인건비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유휴 시간 발생 및 불필요한 연장 수당 지출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인원 운영 최적화로 연장근로 및 </a:t>
                        </a:r>
                        <a:r>
                          <a:rPr lang="ko-KR" altLang="en-US" sz="1000" dirty="0" err="1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조출대응으로</a:t>
                        </a: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 인한 </a:t>
                        </a:r>
                        <a:r>
                          <a:rPr lang="ko-KR" altLang="en-US" sz="1000" dirty="0" err="1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건비</a:t>
                        </a: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 상승 개선 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996869798"/>
                    </a:ext>
                  </a:extLst>
                </a:tr>
                <a:tr h="2057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생산성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제품당 제조 원가 급상승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변동비 성격의 인력 운영으로 원가 경쟁력 유지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2508742040"/>
                    </a:ext>
                  </a:extLst>
                </a:tr>
                <a:tr h="205740"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b="1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운영 유연성</a:t>
                        </a:r>
                        <a:endParaRPr lang="ko-KR" altLang="en-US" sz="1000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endParaRP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생산량 변화에 수동적 대응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>
                          <a:buNone/>
                        </a:pPr>
                        <a:r>
                          <a:rPr lang="ko-KR" altLang="en-US" sz="1000" dirty="0">
                            <a:effectLst/>
                            <a:latin typeface="현대하모니 L" panose="02020603020101020101" pitchFamily="18" charset="-127"/>
                            <a:ea typeface="현대하모니 L" panose="02020603020101020101" pitchFamily="18" charset="-127"/>
                          </a:rPr>
                          <a:t>물량 변동에 따른 탄력적 인력 운영</a:t>
                        </a:r>
                      </a:p>
                    </a:txBody>
                    <a:tcPr marL="68580" marR="68580" marT="34290" marB="34290" anchor="ctr">
                      <a:lnL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6350" cap="flat" cmpd="sng" algn="ctr">
                        <a:solidFill>
                          <a:schemeClr val="bg1">
                            <a:lumMod val="65000"/>
                          </a:scheme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3393960444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08406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38B6E-B2ED-44F4-9550-ADEF4099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9BC3111E-F15E-E1F5-5592-9F207943BF5B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35A2E192-E64D-A507-0896-993102F480DD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3514A38-2C3F-48A5-F792-F86A3EB0D778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31317477-2F94-4E0E-4C7F-9674B83E50A7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7689861-7EC3-EFAD-81A2-F0BD49ACA540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02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A125AF-432A-33DD-E4AA-D7F8B1FB48CF}"/>
              </a:ext>
            </a:extLst>
          </p:cNvPr>
          <p:cNvSpPr txBox="1"/>
          <p:nvPr/>
        </p:nvSpPr>
        <p:spPr>
          <a:xfrm>
            <a:off x="734437" y="953870"/>
            <a:ext cx="57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PU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라인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공피치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운영안별 운영계획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세부안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(1:1~2:1)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4000BD2-61CE-7ED6-DC45-D24520E73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988586"/>
              </p:ext>
            </p:extLst>
          </p:nvPr>
        </p:nvGraphicFramePr>
        <p:xfrm>
          <a:off x="525902" y="1736440"/>
          <a:ext cx="8516498" cy="5006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9825">
                  <a:extLst>
                    <a:ext uri="{9D8B030D-6E8A-4147-A177-3AD203B41FA5}">
                      <a16:colId xmlns:a16="http://schemas.microsoft.com/office/drawing/2014/main" val="2026474558"/>
                    </a:ext>
                  </a:extLst>
                </a:gridCol>
                <a:gridCol w="1845856">
                  <a:extLst>
                    <a:ext uri="{9D8B030D-6E8A-4147-A177-3AD203B41FA5}">
                      <a16:colId xmlns:a16="http://schemas.microsoft.com/office/drawing/2014/main" val="3522108716"/>
                    </a:ext>
                  </a:extLst>
                </a:gridCol>
                <a:gridCol w="1384392">
                  <a:extLst>
                    <a:ext uri="{9D8B030D-6E8A-4147-A177-3AD203B41FA5}">
                      <a16:colId xmlns:a16="http://schemas.microsoft.com/office/drawing/2014/main" val="3670181288"/>
                    </a:ext>
                  </a:extLst>
                </a:gridCol>
                <a:gridCol w="4126425">
                  <a:extLst>
                    <a:ext uri="{9D8B030D-6E8A-4147-A177-3AD203B41FA5}">
                      <a16:colId xmlns:a16="http://schemas.microsoft.com/office/drawing/2014/main" val="3399488721"/>
                    </a:ext>
                  </a:extLst>
                </a:gridCol>
              </a:tblGrid>
              <a:tr h="4085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기아 Medium" panose="020B0600000101010101" pitchFamily="50" charset="-127"/>
                          <a:ea typeface="기아 Medium" panose="020B0600000101010101" pitchFamily="50" charset="-127"/>
                        </a:rPr>
                        <a:t>구분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기아 Medium" panose="020B0600000101010101" pitchFamily="50" charset="-127"/>
                        <a:ea typeface="기아 Medium" panose="020B0600000101010101" pitchFamily="50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기아 Medium" panose="020B0600000101010101" pitchFamily="50" charset="-127"/>
                          <a:ea typeface="기아 Medium" panose="020B0600000101010101" pitchFamily="50" charset="-127"/>
                        </a:rPr>
                        <a:t>운영 내용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기아 Medium" panose="020B0600000101010101" pitchFamily="50" charset="-127"/>
                        <a:ea typeface="기아 Medium" panose="020B0600000101010101" pitchFamily="50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900" u="none" strike="noStrike" dirty="0">
                          <a:effectLst/>
                          <a:latin typeface="기아 Medium" panose="020B0600000101010101" pitchFamily="50" charset="-127"/>
                          <a:ea typeface="기아 Medium" panose="020B0600000101010101" pitchFamily="50" charset="-127"/>
                        </a:rPr>
                        <a:t>비고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기아 Medium" panose="020B0600000101010101" pitchFamily="50" charset="-127"/>
                        <a:ea typeface="기아 Medium" panose="020B0600000101010101" pitchFamily="50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928683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 : 1 ~ 2 : 1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 </a:t>
                      </a:r>
                      <a:r>
                        <a:rPr 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 </a:t>
                      </a:r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2:1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까지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 가능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971528"/>
                  </a:ext>
                </a:extLst>
              </a:tr>
              <a:tr h="474512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공정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운영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→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효율화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4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 시 자체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운영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조립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공지그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▷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 순으로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컨베어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운영 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67753"/>
                  </a:ext>
                </a:extLst>
              </a:tr>
              <a:tr h="51436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유연 인원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(0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(+1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유동 배치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최길주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LTE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-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퇴사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(18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b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정진석 반장 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–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품질 출하검사 보직 변경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(19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47133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지각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조퇴 등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부재인원시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유동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선투입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후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주임 순 라인 투입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즉시 대응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유동인원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투입 완료 후 부재인원 발생시 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라인 투입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2471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유동 인원 투입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정상 운영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50" u="none" strike="noStrike" dirty="0" err="1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투입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 err="1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연장근로 없이 운영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41538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정상 운영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반장 대체인원 투입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반장 역할 대응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005361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 대응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반장 대체인원 투입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대응 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 반장 수시 대응</a:t>
                      </a:r>
                      <a:r>
                        <a:rPr lang="en-US" altLang="ko-KR" sz="1050" u="none" strike="noStrike" dirty="0"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 </a:t>
                      </a:r>
                      <a:endParaRPr lang="en-US" altLang="ko-KR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79610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조립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작업 시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자재관리반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원복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부재로 인한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자재팀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대응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불량 발생시 수정 및 교육 등 어려움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라인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42166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 효과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대응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 대응 가능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안정성 확보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조출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잔업 사라짐 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반장 주임 체제로 운영 가능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선 투입 후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87032"/>
                  </a:ext>
                </a:extLst>
              </a:tr>
              <a:tr h="4510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제한 사항</a:t>
                      </a:r>
                      <a:endParaRPr lang="ko-KR" altLang="en-US" sz="1050" b="0" i="0" u="none" strike="noStrike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공정 주임 투입 어려움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 증가 및 숙련도 부족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사전 교육 필요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898015"/>
                  </a:ext>
                </a:extLst>
              </a:tr>
            </a:tbl>
          </a:graphicData>
        </a:graphic>
      </p:graphicFrame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5322A71-00AC-DD3A-A679-65F6DB8A06C1}"/>
              </a:ext>
            </a:extLst>
          </p:cNvPr>
          <p:cNvCxnSpPr/>
          <p:nvPr/>
        </p:nvCxnSpPr>
        <p:spPr bwMode="auto">
          <a:xfrm>
            <a:off x="525903" y="1614672"/>
            <a:ext cx="851649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5165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D66A43-3EE9-6894-3136-AF314E858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919AC1E-B56F-95E4-55EB-A0BE936DAAE4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DA531A1-D203-7996-5A08-4EBC12C1A46C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C62E1B3F-C91F-D6CB-4FAD-C12E56A4F4EC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356CB56-6B7C-7741-CBCB-ABD68A0EBBBD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30BBB0C-873A-79E4-8B84-0ED0E68B22CF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501FFF-2FFF-6A4F-4BF6-BBED2C8198A0}"/>
              </a:ext>
            </a:extLst>
          </p:cNvPr>
          <p:cNvSpPr txBox="1"/>
          <p:nvPr/>
        </p:nvSpPr>
        <p:spPr>
          <a:xfrm>
            <a:off x="734437" y="953870"/>
            <a:ext cx="57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PU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라인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공피치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운영안별 운영계획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세부안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(3:1)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8A3DB8EF-E691-F236-5899-2B3C84AFB924}"/>
              </a:ext>
            </a:extLst>
          </p:cNvPr>
          <p:cNvCxnSpPr/>
          <p:nvPr/>
        </p:nvCxnSpPr>
        <p:spPr bwMode="auto">
          <a:xfrm>
            <a:off x="525903" y="1614672"/>
            <a:ext cx="851649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560BCBFC-CA97-3C46-F6B5-59431E296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1511292"/>
              </p:ext>
            </p:extLst>
          </p:nvPr>
        </p:nvGraphicFramePr>
        <p:xfrm>
          <a:off x="525903" y="1690939"/>
          <a:ext cx="8516497" cy="50608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933">
                  <a:extLst>
                    <a:ext uri="{9D8B030D-6E8A-4147-A177-3AD203B41FA5}">
                      <a16:colId xmlns:a16="http://schemas.microsoft.com/office/drawing/2014/main" val="2026474558"/>
                    </a:ext>
                  </a:extLst>
                </a:gridCol>
                <a:gridCol w="1764146">
                  <a:extLst>
                    <a:ext uri="{9D8B030D-6E8A-4147-A177-3AD203B41FA5}">
                      <a16:colId xmlns:a16="http://schemas.microsoft.com/office/drawing/2014/main" val="3522108716"/>
                    </a:ext>
                  </a:extLst>
                </a:gridCol>
                <a:gridCol w="1385454">
                  <a:extLst>
                    <a:ext uri="{9D8B030D-6E8A-4147-A177-3AD203B41FA5}">
                      <a16:colId xmlns:a16="http://schemas.microsoft.com/office/drawing/2014/main" val="3670181288"/>
                    </a:ext>
                  </a:extLst>
                </a:gridCol>
                <a:gridCol w="4257964">
                  <a:extLst>
                    <a:ext uri="{9D8B030D-6E8A-4147-A177-3AD203B41FA5}">
                      <a16:colId xmlns:a16="http://schemas.microsoft.com/office/drawing/2014/main" val="3399488721"/>
                    </a:ext>
                  </a:extLst>
                </a:gridCol>
              </a:tblGrid>
              <a:tr h="410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구분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 내용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92868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3:1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 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3:1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이상 운영 시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971528"/>
                  </a:ext>
                </a:extLst>
              </a:tr>
              <a:tr h="5730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공정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운영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기존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→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효율화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 시 자체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운영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공지그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6775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유연 인원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(-1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(0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유동 배치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최길주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LTE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-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퇴사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(18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b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정진석 반장 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–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품질 출하검사 보직 변경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(19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4713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지각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조퇴 등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부재 인원 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주임 순 라인 투입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즉시 대응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부재인원 발생시 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라인 투입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2471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 투입 주임 반장 역할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정상 운영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반장 대체인원 투입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주임 반장 역할 대응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41538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 반장無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 대응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반장 대체인원 투입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공석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주임 대응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불량 반장 수시 대응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005361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 반장無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 대응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공석 공정에 따른 운영계획 예정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투입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79610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작업 시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자재관리반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원복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부재로 인한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자재팀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대응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불량 발생시 수정 및 교육 등 어려움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라인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42166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 효과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대응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 대응 가능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안정성 확보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조출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잔업 사라짐 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반장 주임 체제로 운영 가능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87032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제한 사항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공정 주임 투입 어려움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사양 증가 및 숙련도 부족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사전 교육 필요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　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89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733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7D559-3EF2-7F9E-5032-3C8DBF206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3E5FDF03-6CA2-ADB3-3EE7-878E56BA6712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11BE8C31-FB8A-8EB5-B69E-3F818E0BCDA4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6A4949-FF5D-7B96-595E-FC71AD0E5C56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F9B9F193-5E75-BFE2-4BDA-BACE326ACD9C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B84DD518-E2E9-23A1-717A-8247F43DA076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03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71A383-4D15-8763-62DB-0F0A360A7E67}"/>
              </a:ext>
            </a:extLst>
          </p:cNvPr>
          <p:cNvSpPr txBox="1"/>
          <p:nvPr/>
        </p:nvSpPr>
        <p:spPr>
          <a:xfrm>
            <a:off x="734437" y="953870"/>
            <a:ext cx="57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PU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라인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공피치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운영안별 운영계획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세부안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(4:1)</a:t>
            </a:r>
            <a:endParaRPr lang="ko-KR" altLang="en-US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0268FFC-06AF-B1C2-6958-D97940EA890E}"/>
              </a:ext>
            </a:extLst>
          </p:cNvPr>
          <p:cNvCxnSpPr/>
          <p:nvPr/>
        </p:nvCxnSpPr>
        <p:spPr bwMode="auto">
          <a:xfrm>
            <a:off x="525903" y="1614672"/>
            <a:ext cx="851649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99C9E952-01F8-CEF5-EDA1-DE2B2ECAF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773887"/>
              </p:ext>
            </p:extLst>
          </p:nvPr>
        </p:nvGraphicFramePr>
        <p:xfrm>
          <a:off x="525903" y="1690939"/>
          <a:ext cx="8516497" cy="50934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8933">
                  <a:extLst>
                    <a:ext uri="{9D8B030D-6E8A-4147-A177-3AD203B41FA5}">
                      <a16:colId xmlns:a16="http://schemas.microsoft.com/office/drawing/2014/main" val="2026474558"/>
                    </a:ext>
                  </a:extLst>
                </a:gridCol>
                <a:gridCol w="1764146">
                  <a:extLst>
                    <a:ext uri="{9D8B030D-6E8A-4147-A177-3AD203B41FA5}">
                      <a16:colId xmlns:a16="http://schemas.microsoft.com/office/drawing/2014/main" val="3522108716"/>
                    </a:ext>
                  </a:extLst>
                </a:gridCol>
                <a:gridCol w="1385454">
                  <a:extLst>
                    <a:ext uri="{9D8B030D-6E8A-4147-A177-3AD203B41FA5}">
                      <a16:colId xmlns:a16="http://schemas.microsoft.com/office/drawing/2014/main" val="3670181288"/>
                    </a:ext>
                  </a:extLst>
                </a:gridCol>
                <a:gridCol w="4257964">
                  <a:extLst>
                    <a:ext uri="{9D8B030D-6E8A-4147-A177-3AD203B41FA5}">
                      <a16:colId xmlns:a16="http://schemas.microsoft.com/office/drawing/2014/main" val="3399488721"/>
                    </a:ext>
                  </a:extLst>
                </a:gridCol>
              </a:tblGrid>
              <a:tr h="41030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구분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 내용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비고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792868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4:1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현 </a:t>
                      </a:r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 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기준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4:1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이상 운영 시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 가능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※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단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5:1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일시 정상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(6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</a:t>
                      </a:r>
                      <a:r>
                        <a:rPr lang="en-US" altLang="ko-KR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971528"/>
                  </a:ext>
                </a:extLst>
              </a:tr>
              <a:tr h="5730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공정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운영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기존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6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→ 현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</a:t>
                      </a:r>
                      <a:b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A/B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명씩 공석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효율화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5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 운영 시 유지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096775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유연 인원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(-2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(-1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유동 배치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7791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A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최길주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조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LTE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-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퇴사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(18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779173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대체 인원 투입 필요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협의 조건에서는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b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B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 정진석 반장 조 </a:t>
                      </a:r>
                      <a:r>
                        <a:rPr lang="ko-KR" altLang="en-US" sz="105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하네스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조립 공석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–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품질 출하검사 보직 변경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(19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3447133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지각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조퇴 등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부재 인원 시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주임 순 라인 투입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즉시 대응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부재인원 발생시 반장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·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라인 투입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92471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 투입 주임 반장 역할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정상 운영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반장 대체인원 투입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주임 반장 역할 대응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3441538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 반장無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 대응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  반장 대체인원 투입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/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공석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: 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주임 대응 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(</a:t>
                      </a:r>
                      <a:r>
                        <a:rPr lang="ko-KR" altLang="en-US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불량 반장 수시 대응</a:t>
                      </a:r>
                      <a:r>
                        <a:rPr lang="en-US" altLang="ko-KR" sz="1050" b="0" i="0" u="none" strike="noStrike" kern="1200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) 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005361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</a:t>
                      </a:r>
                      <a:r>
                        <a:rPr lang="ko-KR" altLang="en-US" sz="1050" b="0" i="0" u="none" strike="noStrike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명 결원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반장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투입 반장無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비상 대응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FF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공석 공정에 따른 운영계획 예정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b="0" i="0" u="none" strike="noStrike" dirty="0" err="1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투입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1879610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조립 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</a:t>
                      </a:r>
                      <a:r>
                        <a:rPr lang="en-US" altLang="ko-KR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기본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작업 시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자재관리반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대응</a:t>
                      </a:r>
                      <a:endParaRPr lang="en-US" altLang="ko-KR" sz="1050" u="none" strike="noStrike" dirty="0"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원복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주임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: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PU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부재로 인한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R-CAR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자재팀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대응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     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1/2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불량 발생시 수정 및 교육 등 어려움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도급사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반장 라인 투입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242166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운영 효과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공석 공정 대응 </a:t>
                      </a:r>
                      <a:r>
                        <a:rPr lang="en-US" altLang="ko-KR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/ 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불량 대응 가능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라인 안정성 확보</a:t>
                      </a:r>
                      <a:endParaRPr lang="ko-KR" alt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반대조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ko-KR" altLang="en-US" sz="1050" u="none" strike="noStrike" dirty="0" err="1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조출</a:t>
                      </a: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잔업 사라짐 </a:t>
                      </a:r>
                      <a:b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</a:br>
                      <a:r>
                        <a:rPr lang="ko-KR" altLang="en-US" sz="1050" u="none" strike="noStrike" dirty="0"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반장 주임 체제로 운영 가능</a:t>
                      </a:r>
                      <a:endParaRPr lang="en-US" altLang="ko-KR" sz="1050" b="0" i="0" u="none" strike="noStrike" dirty="0"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5687032"/>
                  </a:ext>
                </a:extLst>
              </a:tr>
              <a:tr h="4530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제한 사항</a:t>
                      </a:r>
                    </a:p>
                  </a:txBody>
                  <a:tcPr marL="7144" marR="7144" marT="7144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인원 공석 대체 투입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정상 </a:t>
                      </a:r>
                      <a:r>
                        <a:rPr lang="ko-KR" altLang="en-US" sz="1050" b="0" i="0" u="none" strike="noStrike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동일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 평균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205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 </a:t>
                      </a:r>
                      <a:r>
                        <a:rPr lang="ko-KR" altLang="en-US" sz="1050" b="0" i="0" u="none" strike="noStrike" dirty="0" err="1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공피치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4:1 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일시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168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인</a:t>
                      </a:r>
                      <a:endParaRPr lang="en-US" altLang="ko-KR" sz="1050" b="0" i="0" u="none" strike="noStrike" dirty="0">
                        <a:solidFill>
                          <a:srgbClr val="FF0000"/>
                        </a:solidFill>
                        <a:effectLst/>
                        <a:highlight>
                          <a:srgbClr val="FFFF00"/>
                        </a:highlight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algn="l" fontAlgn="ctr">
                        <a:buNone/>
                      </a:pP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약 </a:t>
                      </a:r>
                      <a:r>
                        <a:rPr lang="en-US" altLang="ko-KR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34</a:t>
                      </a:r>
                      <a:r>
                        <a:rPr lang="ko-KR" altLang="en-US" sz="1050" b="0" i="0" u="none" strike="noStrike" dirty="0">
                          <a:solidFill>
                            <a:srgbClr val="FF0000"/>
                          </a:solidFill>
                          <a:effectLst/>
                          <a:highlight>
                            <a:srgbClr val="FFFF00"/>
                          </a:highlight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대 정상 가동 시 생산수량 일치 </a:t>
                      </a:r>
                    </a:p>
                  </a:txBody>
                  <a:tcPr marL="5636" marR="5636" marT="5636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5898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763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EA316-7911-1E68-4C7F-9E1EBD61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1A6600ED-9DFE-3D1C-26B7-3EAEFF2E14BB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98B8D703-7FB8-2CCE-A132-D3012DBD25C1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ADC780F5-C699-8D06-2E56-363789E4D21B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A3A7068-4DD6-9D00-C7F0-342E47DA34B0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C40A6AC2-5071-2E26-B71A-034B3D673DCA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04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7FAD4D1-F5A0-B4C1-8EA4-D46A5345B5AE}"/>
              </a:ext>
            </a:extLst>
          </p:cNvPr>
          <p:cNvSpPr txBox="1"/>
          <p:nvPr/>
        </p:nvSpPr>
        <p:spPr>
          <a:xfrm>
            <a:off x="734437" y="953870"/>
            <a:ext cx="57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PU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라인 </a:t>
            </a:r>
            <a:r>
              <a:rPr lang="ko-KR" altLang="en-US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공피치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운영안별 주임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반장 회의내용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FA8C6D72-823F-EE43-F191-FB1E63F2D37B}"/>
              </a:ext>
            </a:extLst>
          </p:cNvPr>
          <p:cNvCxnSpPr/>
          <p:nvPr/>
        </p:nvCxnSpPr>
        <p:spPr bwMode="auto">
          <a:xfrm>
            <a:off x="525903" y="1614672"/>
            <a:ext cx="851649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5" name="그림 4">
            <a:extLst>
              <a:ext uri="{FF2B5EF4-FFF2-40B4-BE49-F238E27FC236}">
                <a16:creationId xmlns:a16="http://schemas.microsoft.com/office/drawing/2014/main" id="{5DC1F414-8B8E-E316-C89E-E890174F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902" y="1675677"/>
            <a:ext cx="8516497" cy="2776247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2BDB593-E42A-9C97-AC67-A7A35A1F3D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02" y="4544287"/>
            <a:ext cx="8516497" cy="1450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latinLnBrk="0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1.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기존 공수 임시 삭제</a:t>
            </a:r>
            <a:endParaRPr lang="ko-KR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네비게이션 공정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글로브 박스 공정 임시 삭제 시 공정 작업자 공석 라인 채움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(1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b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공정 분배 재배치 추진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-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하네스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인원 유동 운영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(2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endParaRPr lang="ko-KR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주임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반장 </a:t>
            </a: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</a:t>
            </a:r>
            <a:r>
              <a:rPr lang="ko-KR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네비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공정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글로브 </a:t>
            </a:r>
            <a:r>
              <a:rPr lang="ko-KR" altLang="en-US" sz="110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박스 공정 해체 가능성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X</a:t>
            </a: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ㄴ이종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및 누락이 많이 증가될 추정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      </a:t>
            </a:r>
            <a:r>
              <a:rPr lang="ko-KR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하네스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작업자 유동 지원이 제일 현실적 반영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2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안으로 찬성</a:t>
            </a:r>
            <a:b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노사 협의 건이라고 회의 후 반장 공유 시 반장이 작업자 내용 전달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노사 협의 된 내용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후 운영 추진 예상 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78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3E5BE-D11B-7E48-983E-3E84B5B4E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4432225D-9155-35F4-0FB0-4B27C84723EA}"/>
              </a:ext>
            </a:extLst>
          </p:cNvPr>
          <p:cNvGrpSpPr/>
          <p:nvPr/>
        </p:nvGrpSpPr>
        <p:grpSpPr>
          <a:xfrm>
            <a:off x="52388" y="461963"/>
            <a:ext cx="414330" cy="1138238"/>
            <a:chOff x="-1" y="461963"/>
            <a:chExt cx="466719" cy="91440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FDD15ECD-AECC-C75E-2277-18366FCABCA4}"/>
                </a:ext>
              </a:extLst>
            </p:cNvPr>
            <p:cNvSpPr/>
            <p:nvPr/>
          </p:nvSpPr>
          <p:spPr bwMode="auto">
            <a:xfrm>
              <a:off x="-1" y="461963"/>
              <a:ext cx="466719" cy="914400"/>
            </a:xfrm>
            <a:prstGeom prst="roundRect">
              <a:avLst>
                <a:gd name="adj" fmla="val 35035"/>
              </a:avLst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B52818-A183-B28C-AC77-10DDD132CB01}"/>
                </a:ext>
              </a:extLst>
            </p:cNvPr>
            <p:cNvSpPr/>
            <p:nvPr/>
          </p:nvSpPr>
          <p:spPr bwMode="auto">
            <a:xfrm>
              <a:off x="266692" y="461963"/>
              <a:ext cx="200026" cy="62388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0C5A5E3-EE90-DD72-FF97-598C0D5501AC}"/>
                </a:ext>
              </a:extLst>
            </p:cNvPr>
            <p:cNvSpPr/>
            <p:nvPr/>
          </p:nvSpPr>
          <p:spPr bwMode="auto">
            <a:xfrm>
              <a:off x="-1" y="461963"/>
              <a:ext cx="200026" cy="91440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ko-KR" altLang="en-US" sz="1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굴림" pitchFamily="50" charset="-127"/>
                <a:ea typeface="굴림" pitchFamily="50" charset="-127"/>
              </a:endParaRPr>
            </a:p>
          </p:txBody>
        </p:sp>
      </p:grp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B3E8E17-6AD2-35D9-13C9-9653A1D448DA}"/>
              </a:ext>
            </a:extLst>
          </p:cNvPr>
          <p:cNvSpPr/>
          <p:nvPr/>
        </p:nvSpPr>
        <p:spPr bwMode="auto">
          <a:xfrm>
            <a:off x="525903" y="583408"/>
            <a:ext cx="407548" cy="264318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1000" b="1" i="0" u="none" strike="noStrike" cap="none" normalizeH="0" baseline="0" dirty="0">
                <a:ln>
                  <a:noFill/>
                </a:ln>
                <a:effectLst/>
                <a:latin typeface="현대하모니 L" panose="02020603020101020101" pitchFamily="18" charset="-127"/>
                <a:ea typeface="현대하모니 L" panose="02020603020101020101" pitchFamily="18" charset="-127"/>
              </a:rPr>
              <a:t>05</a:t>
            </a:r>
            <a:endParaRPr kumimoji="1" lang="ko-KR" altLang="en-US" sz="1000" b="1" i="0" u="none" strike="noStrike" cap="none" normalizeH="0" baseline="0" dirty="0">
              <a:ln>
                <a:noFill/>
              </a:ln>
              <a:effectLst/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304374-C7B7-44A8-DB64-33996BDEBE57}"/>
              </a:ext>
            </a:extLst>
          </p:cNvPr>
          <p:cNvSpPr txBox="1"/>
          <p:nvPr/>
        </p:nvSpPr>
        <p:spPr>
          <a:xfrm>
            <a:off x="734437" y="953870"/>
            <a:ext cx="5749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주임</a:t>
            </a:r>
            <a:r>
              <a:rPr lang="en-US" altLang="ko-KR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현장 관리 운영 계획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C2463F0-6C0D-FC41-B154-211D4929BE11}"/>
              </a:ext>
            </a:extLst>
          </p:cNvPr>
          <p:cNvCxnSpPr/>
          <p:nvPr/>
        </p:nvCxnSpPr>
        <p:spPr bwMode="auto">
          <a:xfrm>
            <a:off x="525903" y="1614672"/>
            <a:ext cx="8516497" cy="0"/>
          </a:xfrm>
          <a:prstGeom prst="line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Rectangle 1">
            <a:extLst>
              <a:ext uri="{FF2B5EF4-FFF2-40B4-BE49-F238E27FC236}">
                <a16:creationId xmlns:a16="http://schemas.microsoft.com/office/drawing/2014/main" id="{E3690954-BBE8-EACA-F3C5-4B5464D7E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02" y="1682694"/>
            <a:ext cx="8516497" cy="4681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latinLnBrk="0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1.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주임 라인 관리 운영</a:t>
            </a:r>
            <a:endParaRPr lang="ko-KR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1)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도장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조립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(PU LINE)</a:t>
            </a:r>
            <a:b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조업 전 작업자 근태 점검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도장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조립 작업자 공석 시 주임 임시 투입 라인 공석 및 반대 조 작업자 대체 투입 없을 것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단 숙련도 문제 관련하여 불량 및 이종 예상 시 반장 협의하여 반장 투입 후 반장 업무로 투입한다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2)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품질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AUDIT</a:t>
            </a: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주간 조업 전 전일 야간 문제점 관련 품질 회의 진행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야간 교대 전 주간 문제점 관련 품질 회의 진행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3)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안전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인원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설비관리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설비는 순찰 영역으로 설비들 알람 등 모니터링 하고 생기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보전 피드백 해서 확인 조치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조업 전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교대 전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A/S, CKD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 문제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알람 기록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대응 및 기록 관리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주임 업무일지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4)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공정 순회점검 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일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4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회 공정 점검 진행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사출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초중종물 검사 및 사출 이슈 부분 반장 합동 점검 및 개선 사항 관리 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도장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도장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티이물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등 문제점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라인 트러블 관련 점검 및 관리자 공유 관리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조립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: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설비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컨베어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/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제품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사출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도장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,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협력사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문제점 점검 및 대응 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5)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라인 청소 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라인 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3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정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5S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문제점 개선 검토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(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현장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도급사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반장 합동 및 공유</a:t>
            </a: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)</a:t>
            </a:r>
            <a:b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청소차 운영 라인 환경 개선</a:t>
            </a:r>
            <a:b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</a:br>
            <a:r>
              <a:rPr lang="en-US" altLang="ko-KR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   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ㄴ </a:t>
            </a:r>
            <a:r>
              <a:rPr lang="ko-KR" altLang="en-US" sz="1100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물떨어짐</a:t>
            </a:r>
            <a:r>
              <a:rPr lang="ko-KR" altLang="en-US" sz="1100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및 재정비 필요 점검 및 개선 사항 관리자 공유</a:t>
            </a:r>
            <a:endParaRPr lang="en-US" altLang="ko-KR" sz="1100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  <a:p>
            <a:pPr defTabSz="685800" eaLnBrk="0" fontAlgn="base" hangingPunct="0">
              <a:lnSpc>
                <a:spcPts val="135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 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통 합</a:t>
            </a:r>
            <a:r>
              <a:rPr lang="en-US" altLang="ko-KR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: 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모든 업무 완료 후 주임 업무일지 업데이트 </a:t>
            </a:r>
            <a:r>
              <a:rPr lang="ko-KR" altLang="en-US" sz="1100" b="1" dirty="0" err="1">
                <a:latin typeface="현대하모니 L" panose="02020603020101020101" pitchFamily="18" charset="-127"/>
                <a:ea typeface="현대하모니 L" panose="02020603020101020101" pitchFamily="18" charset="-127"/>
              </a:rPr>
              <a:t>야간조</a:t>
            </a:r>
            <a:r>
              <a:rPr lang="ko-KR" altLang="en-US" sz="1100" b="1" dirty="0">
                <a:latin typeface="현대하모니 L" panose="02020603020101020101" pitchFamily="18" charset="-127"/>
                <a:ea typeface="현대하모니 L" panose="02020603020101020101" pitchFamily="18" charset="-127"/>
              </a:rPr>
              <a:t> 완료 후 조립 관리자 사진 공유 명일 업무일지 업데이트 내용 관리자 공유 예정</a:t>
            </a:r>
            <a:endParaRPr lang="en-US" altLang="ko-KR" sz="1100" b="1" dirty="0">
              <a:latin typeface="현대하모니 L" panose="02020603020101020101" pitchFamily="18" charset="-127"/>
              <a:ea typeface="현대하모니 L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02731940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2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sz="12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mtClean="0">
            <a:latin typeface="현대하모니 M" panose="02020603020101020101" pitchFamily="18" charset="-127"/>
            <a:ea typeface="현대하모니 M" panose="02020603020101020101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14714</TotalTime>
  <Words>1774</Words>
  <Application>Microsoft Office PowerPoint</Application>
  <PresentationFormat>화면 슬라이드 쇼(4:3)</PresentationFormat>
  <Paragraphs>244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굴림</vt:lpstr>
      <vt:lpstr>기아 Medium</vt:lpstr>
      <vt:lpstr>맑은 고딕</vt:lpstr>
      <vt:lpstr>현대하모니 L</vt:lpstr>
      <vt:lpstr>현대하모니 M</vt:lpstr>
      <vt:lpstr>Arial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김환기</dc:creator>
  <cp:lastModifiedBy>김환기</cp:lastModifiedBy>
  <cp:revision>19</cp:revision>
  <cp:lastPrinted>2026-04-10T02:27:20Z</cp:lastPrinted>
  <dcterms:created xsi:type="dcterms:W3CDTF">2025-03-05T04:18:56Z</dcterms:created>
  <dcterms:modified xsi:type="dcterms:W3CDTF">2026-05-27T02:49:53Z</dcterms:modified>
</cp:coreProperties>
</file>